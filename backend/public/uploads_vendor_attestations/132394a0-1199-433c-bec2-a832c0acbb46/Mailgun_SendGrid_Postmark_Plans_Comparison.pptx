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78066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Transactional Email</a:t>
            </a:r>
            <a:br>
              <a:rPr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</a:br>
            <a:r>
              <a:rPr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Plans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437946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BED2F0"/>
                </a:solidFill>
              </a:defRPr>
            </a:pPr>
            <a:r>
              <a:rPr dirty="0" err="1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Mailgun</a:t>
            </a:r>
            <a:r>
              <a:rPr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 vs SendGrid vs Postmark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4163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251960"/>
          </a:xfrm>
          <a:prstGeom prst="rect">
            <a:avLst/>
          </a:prstGeom>
          <a:solidFill>
            <a:srgbClr val="32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11892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MAILGUN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21091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269BE"/>
                </a:solidFill>
              </a:defRPr>
            </a:pPr>
            <a:r>
              <a:rPr>
                <a:latin typeface="Aptos" panose="020B0004020202020204" pitchFamily="34" charset="0"/>
              </a:rPr>
              <a:t>From $15/mo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063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Basic: 10K emails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Foundation: 50K emails • $35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Scale: 100K emails • $90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Strong API, SMTP, inbound routing &amp; deliverability tooling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425196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13276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SENDGRID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254832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19691"/>
                </a:solidFill>
              </a:defRPr>
            </a:pPr>
            <a:r>
              <a:rPr>
                <a:latin typeface="Aptos" panose="020B0004020202020204" pitchFamily="34" charset="0"/>
              </a:rPr>
              <a:t>From $19.95/mo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063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Essentials: 50K emails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Pro: 100K emails • $89.95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Higher-volume tiers up to 2.5M+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Strong ecosystem, analytics &amp; marketing options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2044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4251960"/>
          </a:xfrm>
          <a:prstGeom prst="rect">
            <a:avLst/>
          </a:prstGeom>
          <a:solidFill>
            <a:srgbClr val="6E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1581912"/>
            <a:ext cx="13670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POSTMARK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84248"/>
            <a:ext cx="21091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E4EAA"/>
                </a:solidFill>
              </a:defRPr>
            </a:pPr>
            <a:r>
              <a:rPr>
                <a:latin typeface="Aptos" panose="020B0004020202020204" pitchFamily="34" charset="0"/>
              </a:rPr>
              <a:t>From $15/mo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3063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Basic: 10K emails • $15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Pro: 10K emails • $16.50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Platform: 10K emails • $18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Transactional-first focus and simple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0700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Plan &amp; Pricing Snapshot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94741"/>
              </p:ext>
            </p:extLst>
          </p:nvPr>
        </p:nvGraphicFramePr>
        <p:xfrm>
          <a:off x="59436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Provider</a:t>
                      </a:r>
                    </a:p>
                  </a:txBody>
                  <a:tcPr marL="73152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latin typeface="Aptos" panose="020B0004020202020204" pitchFamily="34" charset="0"/>
                        </a:rPr>
                        <a:t>Entry paid plan</a:t>
                      </a:r>
                    </a:p>
                  </a:txBody>
                  <a:tcPr marL="73152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Included volume</a:t>
                      </a:r>
                    </a:p>
                  </a:txBody>
                  <a:tcPr marL="73152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Higher tier example</a:t>
                      </a:r>
                    </a:p>
                  </a:txBody>
                  <a:tcPr marL="73152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Overage</a:t>
                      </a:r>
                    </a:p>
                  </a:txBody>
                  <a:tcPr marL="73152" marR="54864" anchor="ctr">
                    <a:solidFill>
                      <a:srgbClr val="14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Mailgun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Basic — $15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10K/mo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Scale — $90 / 100K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From $1.80/1K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SendGrid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Essentials — $19.95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50K/mo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Pro — $89.95 / 100K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Plan-dependent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Postmark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Basic — $15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10K/mo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>
                          <a:latin typeface="Aptos" panose="020B0004020202020204" pitchFamily="34" charset="0"/>
                        </a:rPr>
                        <a:t>Platform — $18 / 10K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A34"/>
                          </a:solidFill>
                        </a:defRPr>
                      </a:pPr>
                      <a:r>
                        <a:rPr dirty="0">
                          <a:latin typeface="Aptos" panose="020B0004020202020204" pitchFamily="34" charset="0"/>
                        </a:rPr>
                        <a:t>From $1.20/1K</a:t>
                      </a:r>
                    </a:p>
                  </a:txBody>
                  <a:tcPr marL="73152" marR="54864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47472"/>
            <a:ext cx="2472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Mailgun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32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7617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12891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269BE"/>
                </a:solidFill>
              </a:defRPr>
            </a:pPr>
            <a:r>
              <a:rPr>
                <a:latin typeface="Aptos" panose="020B0004020202020204" pitchFamily="34" charset="0"/>
              </a:rPr>
              <a:t>$15/mo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1752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10,000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No daily limit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REST API + SMTP relay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1 sending domain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Tracking, analytics &amp; webhooks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5 inbound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32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13772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12891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269BE"/>
                </a:solidFill>
              </a:defRPr>
            </a:pPr>
            <a:r>
              <a:rPr>
                <a:latin typeface="Aptos" panose="020B0004020202020204" pitchFamily="34" charset="0"/>
              </a:rPr>
              <a:t>$35/mo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01752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50,000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1,000 custom sending domains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Template builder + API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Full inbound routing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5-day log retention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30-day trial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73152" cy="4480560"/>
          </a:xfrm>
          <a:prstGeom prst="rect">
            <a:avLst/>
          </a:prstGeom>
          <a:solidFill>
            <a:srgbClr val="32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1490472"/>
            <a:ext cx="77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92807"/>
            <a:ext cx="12891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269BE"/>
                </a:solidFill>
              </a:defRPr>
            </a:pPr>
            <a:r>
              <a:rPr>
                <a:latin typeface="Aptos" panose="020B0004020202020204" pitchFamily="34" charset="0"/>
              </a:rPr>
              <a:t>$90/mo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301752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100,000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Dedicated IP pools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SAML SSO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5,000 validations included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Send Time Optimization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Live phone + chat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47472"/>
            <a:ext cx="27061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 dirty="0">
                <a:latin typeface="Aptos" panose="020B0004020202020204" pitchFamily="34" charset="0"/>
              </a:rPr>
              <a:t>SendGrid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628159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D"/>
                </a:solidFill>
              </a:defRPr>
            </a:pPr>
            <a:r>
              <a:rPr>
                <a:latin typeface="Aptos" panose="020B0004020202020204" pitchFamily="34" charset="0"/>
              </a:rPr>
              <a:t>Strong choice for teams that may combine transactional email with broader email programs.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12747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172842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19691"/>
                </a:solidFill>
              </a:defRPr>
            </a:pPr>
            <a:r>
              <a:rPr>
                <a:latin typeface="Aptos" panose="020B0004020202020204" pitchFamily="34" charset="0"/>
              </a:rPr>
              <a:t>$19.95/mo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1752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50,000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Email API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Analytics &amp; deliverability optimization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Shared IP environment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1 event webhook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5373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172842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19691"/>
                </a:solidFill>
              </a:defRPr>
            </a:pPr>
            <a:r>
              <a:rPr>
                <a:latin typeface="Aptos" panose="020B0004020202020204" pitchFamily="34" charset="0"/>
              </a:rPr>
              <a:t>$89.95/mo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01752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100,000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Advanced API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Higher-volume tiers available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Dedicated IP access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More deliverability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73152" cy="448056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1490472"/>
            <a:ext cx="10134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Premier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92807"/>
            <a:ext cx="22056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19691"/>
                </a:solidFill>
              </a:defRPr>
            </a:pPr>
            <a:r>
              <a:rPr>
                <a:latin typeface="Aptos" panose="020B0004020202020204" pitchFamily="34" charset="0"/>
              </a:rPr>
              <a:t>Contact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301752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2.5M+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Enterprise-oriented scale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Advanced support &amp; controls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Best for high-volume senders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Custom commercial terms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47472"/>
            <a:ext cx="27412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 dirty="0">
                <a:latin typeface="Aptos" panose="020B0004020202020204" pitchFamily="34" charset="0"/>
              </a:rPr>
              <a:t>Postmark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6E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7617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12891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E4EAA"/>
                </a:solidFill>
              </a:defRPr>
            </a:pPr>
            <a:r>
              <a:rPr>
                <a:latin typeface="Aptos" panose="020B0004020202020204" pitchFamily="34" charset="0"/>
              </a:rPr>
              <a:t>$15/mo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1752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10,000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45-day data retention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5 custom sending domains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Up to 4 users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Detailed analytics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Extra: $1.80 / 1K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6E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5373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172842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E4EAA"/>
                </a:solidFill>
              </a:defRPr>
            </a:pPr>
            <a:r>
              <a:rPr>
                <a:latin typeface="Aptos" panose="020B0004020202020204" pitchFamily="34" charset="0"/>
              </a:rPr>
              <a:t>$16.50/mo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01752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10,000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Inbound email processing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10 custom domains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Up to 6 users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Retention up to 365 days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Extra: $1.30 / 1K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7472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73152" cy="4480560"/>
          </a:xfrm>
          <a:prstGeom prst="rect">
            <a:avLst/>
          </a:prstGeom>
          <a:solidFill>
            <a:srgbClr val="6E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1490472"/>
            <a:ext cx="10983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92807"/>
            <a:ext cx="12891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E4EAA"/>
                </a:solidFill>
              </a:defRPr>
            </a:pPr>
            <a:r>
              <a:rPr>
                <a:latin typeface="Aptos" panose="020B0004020202020204" pitchFamily="34" charset="0"/>
              </a:rPr>
              <a:t>$18/mo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301752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10,000 emails/month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Unlimited users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Unlimited domains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Inbound email processing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Unlimited servers/streams</a:t>
            </a:r>
          </a:p>
          <a:p>
            <a:pPr>
              <a:spcAft>
                <a:spcPts val="800"/>
              </a:spcAft>
              <a:defRPr sz="1200">
                <a:solidFill>
                  <a:srgbClr val="232A34"/>
                </a:solidFill>
              </a:defRPr>
            </a:pPr>
            <a:r>
              <a:rPr>
                <a:latin typeface="Aptos" panose="020B0004020202020204" pitchFamily="34" charset="0"/>
              </a:rPr>
              <a:t>• Extra: $1.20 / 1K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5956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Which Provider Fits Which Need?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91440" cy="1143000"/>
          </a:xfrm>
          <a:prstGeom prst="rect">
            <a:avLst/>
          </a:prstGeom>
          <a:solidFill>
            <a:srgbClr val="32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18742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69BE"/>
                </a:solidFill>
              </a:defRPr>
            </a:pPr>
            <a:r>
              <a:rPr dirty="0">
                <a:latin typeface="Aptos" panose="020B0004020202020204" pitchFamily="34" charset="0"/>
              </a:rPr>
              <a:t>Choose </a:t>
            </a:r>
            <a:r>
              <a:rPr dirty="0" err="1">
                <a:latin typeface="Aptos" panose="020B0004020202020204" pitchFamily="34" charset="0"/>
              </a:rPr>
              <a:t>Mailgun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16045" y="1629058"/>
            <a:ext cx="799424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rPr lang="en-IN" dirty="0">
                <a:latin typeface="Aptos" panose="020B0004020202020204" pitchFamily="34" charset="0"/>
              </a:rPr>
              <a:t>For </a:t>
            </a:r>
            <a:r>
              <a:rPr dirty="0">
                <a:latin typeface="Aptos" panose="020B0004020202020204" pitchFamily="34" charset="0"/>
              </a:rPr>
              <a:t>flexible API/SMTP integration, inbound routing, validation and deeper deliverability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108356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926080"/>
            <a:ext cx="91440" cy="1143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3090672"/>
            <a:ext cx="20217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9691"/>
                </a:solidFill>
              </a:defRPr>
            </a:pPr>
            <a:r>
              <a:rPr>
                <a:latin typeface="Aptos" panose="020B0004020202020204" pitchFamily="34" charset="0"/>
              </a:rPr>
              <a:t>Choose SendGrid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6045" y="3104389"/>
            <a:ext cx="839159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rPr lang="en-IN" dirty="0">
                <a:latin typeface="Aptos" panose="020B0004020202020204" pitchFamily="34" charset="0"/>
              </a:rPr>
              <a:t>For </a:t>
            </a:r>
            <a:r>
              <a:rPr dirty="0">
                <a:latin typeface="Aptos" panose="020B0004020202020204" pitchFamily="34" charset="0"/>
              </a:rPr>
              <a:t>a mature ecosystem and may need both transactional email and broader marketing capabilities.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8356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4434840"/>
            <a:ext cx="91440" cy="1143000"/>
          </a:xfrm>
          <a:prstGeom prst="rect">
            <a:avLst/>
          </a:prstGeom>
          <a:solidFill>
            <a:srgbClr val="6E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" y="4599431"/>
            <a:ext cx="20442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E4EAA"/>
                </a:solidFill>
              </a:defRPr>
            </a:pPr>
            <a:r>
              <a:rPr>
                <a:latin typeface="Aptos" panose="020B0004020202020204" pitchFamily="34" charset="0"/>
              </a:rPr>
              <a:t>Choose Postmark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6045" y="4526280"/>
            <a:ext cx="77323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rPr lang="en-IN" dirty="0">
                <a:latin typeface="Aptos" panose="020B0004020202020204" pitchFamily="34" charset="0"/>
              </a:rPr>
              <a:t>For </a:t>
            </a:r>
            <a:r>
              <a:rPr dirty="0">
                <a:latin typeface="Aptos" panose="020B0004020202020204" pitchFamily="34" charset="0"/>
              </a:rPr>
              <a:t>transactional delivery, simplicity, fast setup and predictable entry pricing are the priority.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6701" y="6473952"/>
            <a:ext cx="285045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A7D"/>
                </a:solidFill>
              </a:defRPr>
            </a:pPr>
            <a:r>
              <a:rPr>
                <a:latin typeface="Aptos" panose="020B0004020202020204" pitchFamily="34" charset="0"/>
              </a:rPr>
              <a:t>Pricing checked August 24, 2026 • USD/month unless stated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104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Recommendation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4472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For ~10K transactional emails/month: Postmark is the simplest low-cost starting point; </a:t>
            </a:r>
            <a:r>
              <a:rPr dirty="0" err="1">
                <a:latin typeface="Aptos" panose="020B0004020202020204" pitchFamily="34" charset="0"/>
              </a:rPr>
              <a:t>Mailgun</a:t>
            </a:r>
            <a:r>
              <a:rPr dirty="0">
                <a:latin typeface="Aptos" panose="020B0004020202020204" pitchFamily="34" charset="0"/>
              </a:rPr>
              <a:t> Basic is another strong option.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For ~50K/month: </a:t>
            </a:r>
            <a:r>
              <a:rPr dirty="0" err="1">
                <a:latin typeface="Aptos" panose="020B0004020202020204" pitchFamily="34" charset="0"/>
              </a:rPr>
              <a:t>Mailgun</a:t>
            </a:r>
            <a:r>
              <a:rPr dirty="0">
                <a:latin typeface="Aptos" panose="020B0004020202020204" pitchFamily="34" charset="0"/>
              </a:rPr>
              <a:t> Foundation starts at $35; SendGrid Essentials starts at $19.95.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For ~100K/month: compare </a:t>
            </a:r>
            <a:r>
              <a:rPr dirty="0" err="1">
                <a:latin typeface="Aptos" panose="020B0004020202020204" pitchFamily="34" charset="0"/>
              </a:rPr>
              <a:t>Mailgun</a:t>
            </a:r>
            <a:r>
              <a:rPr dirty="0">
                <a:latin typeface="Aptos" panose="020B0004020202020204" pitchFamily="34" charset="0"/>
              </a:rPr>
              <a:t> Scale ($90) with SendGrid Pro ($89.95) and Postmark's volume-based tiers.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If inbound email processing is important at 10K volume, Postmark Pro/Platform is especially compelling.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If advanced validation, dedicated IP pools and deliverability tooling are priorities, </a:t>
            </a:r>
            <a:r>
              <a:rPr dirty="0" err="1">
                <a:latin typeface="Aptos" panose="020B0004020202020204" pitchFamily="34" charset="0"/>
              </a:rPr>
              <a:t>Mailgun</a:t>
            </a:r>
            <a:r>
              <a:rPr dirty="0">
                <a:latin typeface="Aptos" panose="020B0004020202020204" pitchFamily="34" charset="0"/>
              </a:rPr>
              <a:t> Scale is attractive.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Treat marketing-email requirements separately from transactional requirements when evaluating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783080"/>
            <a:ext cx="24394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latin typeface="Aptos" panose="020B0004020202020204" pitchFamily="34" charset="0"/>
              </a:rPr>
              <a:t>Suggested shortlist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423160"/>
            <a:ext cx="265176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>
                <a:latin typeface="Aptos" panose="020B0004020202020204" pitchFamily="34" charset="0"/>
              </a:rPr>
              <a:t>• Postmark — transactional simplicity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>
                <a:latin typeface="Aptos" panose="020B0004020202020204" pitchFamily="34" charset="0"/>
              </a:rPr>
              <a:t>• Mailgun — flexibility &amp; deliverability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>
                <a:latin typeface="Aptos" panose="020B0004020202020204" pitchFamily="34" charset="0"/>
              </a:rPr>
              <a:t>• SendGrid — ecosystem &amp;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100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rPr lang="en-IN" dirty="0">
                <a:latin typeface="Aptos" panose="020B0004020202020204" pitchFamily="34" charset="0"/>
              </a:rPr>
              <a:t>Reference Links: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2942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Mailgun pricing</a:t>
            </a:r>
          </a:p>
          <a:p>
            <a:pPr>
              <a:defRPr sz="1100">
                <a:solidFill>
                  <a:srgbClr val="5F6A7D"/>
                </a:solidFill>
              </a:defRPr>
            </a:pPr>
            <a:r>
              <a:rPr>
                <a:latin typeface="Aptos" panose="020B0004020202020204" pitchFamily="34" charset="0"/>
              </a:rPr>
              <a:t>https://www.mailgun.com/pricing/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6984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4"/>
                </a:solidFill>
              </a:defRPr>
            </a:pPr>
            <a:r>
              <a:rPr dirty="0">
                <a:latin typeface="Aptos" panose="020B0004020202020204" pitchFamily="34" charset="0"/>
              </a:rPr>
              <a:t>SendGrid Email API pricing</a:t>
            </a:r>
          </a:p>
          <a:p>
            <a:pPr>
              <a:defRPr sz="1100">
                <a:solidFill>
                  <a:srgbClr val="5F6A7D"/>
                </a:solidFill>
              </a:defRPr>
            </a:pPr>
            <a:r>
              <a:rPr lang="en-IN" dirty="0">
                <a:latin typeface="Aptos" panose="020B0004020202020204" pitchFamily="34" charset="0"/>
              </a:rPr>
              <a:t>https://www.twilio.com/en-us/products/email-api/pricing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22252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4"/>
                </a:solidFill>
              </a:defRPr>
            </a:pPr>
            <a:r>
              <a:rPr>
                <a:latin typeface="Aptos" panose="020B0004020202020204" pitchFamily="34" charset="0"/>
              </a:rPr>
              <a:t>Postmark pricing</a:t>
            </a:r>
          </a:p>
          <a:p>
            <a:pPr>
              <a:defRPr sz="1100">
                <a:solidFill>
                  <a:srgbClr val="5F6A7D"/>
                </a:solidFill>
              </a:defRPr>
            </a:pPr>
            <a:r>
              <a:rPr>
                <a:latin typeface="Aptos" panose="020B0004020202020204" pitchFamily="34" charset="0"/>
              </a:rPr>
              <a:t>https://postmarkapp.com/pricing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733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Thulasi V</cp:lastModifiedBy>
  <cp:revision>5</cp:revision>
  <dcterms:created xsi:type="dcterms:W3CDTF">2013-01-27T09:14:16Z</dcterms:created>
  <dcterms:modified xsi:type="dcterms:W3CDTF">2026-08-24T12:54:56Z</dcterms:modified>
  <cp:category/>
</cp:coreProperties>
</file>